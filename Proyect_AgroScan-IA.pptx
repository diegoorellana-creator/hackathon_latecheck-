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C2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3C2A"/>
                </a:solidFill>
                <a:latin typeface="Arial"/>
              </a:rPr>
              <a:t>Producción Anual (miles ton)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 de toneladas/año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75-4DB7-A9C3-B64CCFB8AB15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75-4DB7-A9C3-B64CCFB8AB15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75-4DB7-A9C3-B64CCFB8AB15}"/>
              </c:ext>
            </c:extLst>
          </c:dPt>
          <c:dPt>
            <c:idx val="3"/>
            <c:invertIfNegative val="0"/>
            <c:bubble3D val="0"/>
            <c:spPr>
              <a:solidFill>
                <a:srgbClr val="E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75-4DB7-A9C3-B64CCFB8AB15}"/>
              </c:ext>
            </c:extLst>
          </c:dPt>
          <c:dPt>
            <c:idx val="4"/>
            <c:invertIfNegative val="0"/>
            <c:bubble3D val="0"/>
            <c:spPr>
              <a:solidFill>
                <a:srgbClr val="95C9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75-4DB7-A9C3-B64CCFB8AB15}"/>
              </c:ext>
            </c:extLst>
          </c:dPt>
          <c:dPt>
            <c:idx val="5"/>
            <c:invertIfNegative val="0"/>
            <c:bubble3D val="0"/>
            <c:spPr>
              <a:solidFill>
                <a:srgbClr val="74B8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475-4DB7-A9C3-B64CCFB8AB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F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Soya</c:v>
                </c:pt>
                <c:pt idx="1">
                  <c:v>Maíz</c:v>
                </c:pt>
                <c:pt idx="2">
                  <c:v>Sorgo</c:v>
                </c:pt>
                <c:pt idx="3">
                  <c:v>Caña</c:v>
                </c:pt>
                <c:pt idx="4">
                  <c:v>Girasol</c:v>
                </c:pt>
                <c:pt idx="5">
                  <c:v>Arroz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3500</c:v>
                </c:pt>
                <c:pt idx="1">
                  <c:v>1200</c:v>
                </c:pt>
                <c:pt idx="2">
                  <c:v>800</c:v>
                </c:pt>
                <c:pt idx="3">
                  <c:v>600</c:v>
                </c:pt>
                <c:pt idx="4">
                  <c:v>180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475-4DB7-A9C3-B64CCFB8AB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9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754880" cy="4754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640080"/>
            <a:ext cx="3200400" cy="32004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474720"/>
            <a:ext cx="3474720" cy="34747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· LOS PIRATAS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731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AgroScan IA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enfermedades agrícolas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asistido por Inteligencia Artificial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907792"/>
            <a:ext cx="292608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3580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Gabriel René Moreno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de la Sierra, Bolivia  ·  30/05/2026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Challapa  ·  Deimar Basilio  ·  Andrés Dias  ·  Ernesto Laura  ·  Fabricio Mamani  ·  Diego Orellana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existe esta oportunidad?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productores de Santa Cruz no cuentan con una herramienta simple y local para diagnosticar enfermedades en sus cultivos de forma rápida."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2788920" cy="457200"/>
          </a:xfrm>
          <a:prstGeom prst="rect">
            <a:avLst/>
          </a:prstGeom>
          <a:solidFill>
            <a:srgbClr val="D95F3B"/>
          </a:solidFill>
          <a:ln/>
        </p:spPr>
      </p:sp>
      <p:sp>
        <p:nvSpPr>
          <p:cNvPr id="10" name="Shape 8"/>
          <p:cNvSpPr/>
          <p:nvPr/>
        </p:nvSpPr>
        <p:spPr>
          <a:xfrm>
            <a:off x="139446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217627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788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Tardía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identificación tardía de plagas y enfermedades destruye hasta el 30% del rendimiento en soya, maíz, sorgo y caña.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4065563"/>
            <a:ext cx="2788920" cy="872197"/>
          </a:xfrm>
          <a:prstGeom prst="rect">
            <a:avLst/>
          </a:prstGeom>
          <a:solidFill>
            <a:srgbClr val="FDE8E2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" y="42702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429768" y="453542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>
              <a:solidFill>
                <a:srgbClr val="5C7A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dirty="0" err="1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r>
              <a:rPr lang="en-US" sz="8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perdido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46120" y="1828800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828800"/>
            <a:ext cx="2788920" cy="457200"/>
          </a:xfrm>
          <a:prstGeom prst="rect">
            <a:avLst/>
          </a:prstGeom>
          <a:solidFill>
            <a:srgbClr val="E9A84C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054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21762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37560" y="2788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Inadecuadas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38328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Plantix y similares son generalistas y globales. No conocen los patógenos ni el clima específico de Santa Cruz.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46120" y="4065563"/>
            <a:ext cx="2788920" cy="872197"/>
          </a:xfrm>
          <a:prstGeom prst="rect">
            <a:avLst/>
          </a:prstGeom>
          <a:solidFill>
            <a:srgbClr val="FEF3CD"/>
          </a:solidFill>
          <a:ln/>
        </p:spPr>
      </p:sp>
      <p:sp>
        <p:nvSpPr>
          <p:cNvPr id="24" name="Text 20"/>
          <p:cNvSpPr/>
          <p:nvPr/>
        </p:nvSpPr>
        <p:spPr>
          <a:xfrm>
            <a:off x="3355848" y="42702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25" name="Text 21"/>
          <p:cNvSpPr/>
          <p:nvPr/>
        </p:nvSpPr>
        <p:spPr>
          <a:xfrm>
            <a:off x="3355848" y="453542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>
              <a:solidFill>
                <a:srgbClr val="5C7A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dirty="0" err="1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r>
              <a:rPr lang="en-US" sz="8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contexto local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172200" y="1828800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72200" y="1828800"/>
            <a:ext cx="2788920" cy="4572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8" name="Shape 24"/>
          <p:cNvSpPr/>
          <p:nvPr/>
        </p:nvSpPr>
        <p:spPr>
          <a:xfrm>
            <a:off x="724662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492" y="2176272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63640" y="2788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30936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fitopatólogos son escasos y costosos. El celular o la PC es la única herramienta al alcance del productor.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172200" y="4065563"/>
            <a:ext cx="2788920" cy="872197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8"/>
          <p:cNvSpPr/>
          <p:nvPr/>
        </p:nvSpPr>
        <p:spPr>
          <a:xfrm>
            <a:off x="6281928" y="42702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4000" dirty="0"/>
          </a:p>
        </p:txBody>
      </p:sp>
      <p:sp>
        <p:nvSpPr>
          <p:cNvPr id="34" name="Text 29"/>
          <p:cNvSpPr/>
          <p:nvPr/>
        </p:nvSpPr>
        <p:spPr>
          <a:xfrm>
            <a:off x="6281928" y="453542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>
              <a:solidFill>
                <a:srgbClr val="5C7A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dirty="0" err="1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</a:t>
            </a:r>
            <a:r>
              <a:rPr lang="en-US" sz="8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asesoría técnica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11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competencia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Hardware especializado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Fitopatólogo disponible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Conexión de alta velocidad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Conocimiento técnico avanzado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Semanas de espera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38404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Costo elevado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11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AgroScan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645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foto.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457200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todo.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0584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Simple, Stupid.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A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real, ya construida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75488" cy="47548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078992"/>
            <a:ext cx="3474720" cy="420624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08813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productor fotografía la hoja afectada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527048"/>
            <a:ext cx="73152" cy="4754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11680"/>
            <a:ext cx="475488" cy="47548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2039112"/>
            <a:ext cx="3474720" cy="420624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04825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procesa (Pillow · 1024px RGB)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73152" cy="4754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971800"/>
            <a:ext cx="475488" cy="475488"/>
          </a:xfrm>
          <a:prstGeom prst="ellipse">
            <a:avLst/>
          </a:prstGeom>
          <a:solidFill>
            <a:srgbClr val="E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2999232"/>
            <a:ext cx="3474720" cy="420624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00837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analiza con prompt especializado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447288"/>
            <a:ext cx="73152" cy="4754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931920"/>
            <a:ext cx="475488" cy="47548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0120" y="3959352"/>
            <a:ext cx="3474720" cy="420624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396849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estructurado: enfermedad, confianza, tratamiento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14800" cy="3886200"/>
          </a:xfrm>
          <a:prstGeom prst="rect">
            <a:avLst/>
          </a:prstGeom>
          <a:solidFill>
            <a:srgbClr val="1F4A3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987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Diagnóstico AgroScan 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detectado: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 (Glycine max)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1938528"/>
            <a:ext cx="384048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0391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2039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Mancha Angular (Phakopsora pachyrhizi)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2468880"/>
            <a:ext cx="384048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56946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25694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2999232"/>
            <a:ext cx="384048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09981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0998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529584"/>
            <a:ext cx="384048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6301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Fungicida triazol · Mancozeb 2.5 g/L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92040" y="4059936"/>
            <a:ext cx="384048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cultivos · monitoreo semanal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6177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6177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MVC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46177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48" name="Text 46"/>
          <p:cNvSpPr/>
          <p:nvPr/>
        </p:nvSpPr>
        <p:spPr>
          <a:xfrm>
            <a:off x="1874520" y="46177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29000" y="46177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6177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496519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965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74520" y="496519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54" name="Text 52"/>
          <p:cNvSpPr/>
          <p:nvPr/>
        </p:nvSpPr>
        <p:spPr>
          <a:xfrm>
            <a:off x="1874520" y="4965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PIL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VALIDACIÓN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Bolivia y por qué ahora?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574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91440" cy="896112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agrícola de Bolivia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20574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91440" cy="89611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de soya/año en Santa Cruz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0574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91440" cy="89611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 cubiertos por AgroScan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20574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023360"/>
            <a:ext cx="91440" cy="896112"/>
          </a:xfrm>
          <a:prstGeom prst="rect">
            <a:avLst/>
          </a:prstGeom>
          <a:solidFill>
            <a:srgbClr val="D95F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locales equivalentes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100584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1005840"/>
            <a:ext cx="320040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1024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 cubiertos por AgroScan 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1536192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15361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Soya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1536192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15361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🌽  Maíz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194560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🎋  Caña de Azúcar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2194560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🌻  Girasol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51760" y="2852928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8529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Arroz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2852928"/>
            <a:ext cx="1417320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28529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🪴  Algodón</a:t>
            </a:r>
            <a:endParaRPr lang="en-US" sz="11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5943600" y="1005840"/>
          <a:ext cx="3017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02920" y="4370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Ventaja local: nuestro prompt de IA está calibrado exclusivamente para los patógenos, clima y cultivos de Santa Cruz, Bolivia — lo que ninguna solución global ofrece.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IDEAL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le resolvemos el problema?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3200400" cy="47548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1498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  Perfil del Productor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 o mediano productor agrícola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Zonas: Montero, Warnes y provincias de Santa Cruz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 soya, maíz, caña, girasol, arroz o algodón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PC o smartphone con conexión a internet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rendimiento diario para su ingreso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constante a fitopatólogos especializados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9875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BO" sz="1500" b="1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500" b="1" dirty="0" err="1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uellos</a:t>
            </a:r>
            <a:r>
              <a:rPr lang="en-US" sz="1500" b="1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b="1" dirty="0" err="1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1426464"/>
            <a:ext cx="5120640" cy="566928"/>
          </a:xfrm>
          <a:prstGeom prst="rect">
            <a:avLst/>
          </a:prstGeom>
          <a:solidFill>
            <a:srgbClr val="FDE8E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426464"/>
            <a:ext cx="91440" cy="566928"/>
          </a:xfrm>
          <a:prstGeom prst="rect">
            <a:avLst/>
          </a:prstGeom>
          <a:solidFill>
            <a:srgbClr val="D95F3B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632" y="144475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hasta el 30% de cosecha por enfermedades no detectadas a tiempo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5120640" cy="566928"/>
          </a:xfrm>
          <a:prstGeom prst="rect">
            <a:avLst/>
          </a:prstGeom>
          <a:solidFill>
            <a:srgbClr val="FDE8E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2084832"/>
            <a:ext cx="91440" cy="566928"/>
          </a:xfrm>
          <a:prstGeom prst="rect">
            <a:avLst/>
          </a:prstGeom>
          <a:solidFill>
            <a:srgbClr val="D95F3B"/>
          </a:solidFill>
          <a:ln/>
        </p:spPr>
      </p:sp>
      <p:sp>
        <p:nvSpPr>
          <p:cNvPr id="16" name="Text 14"/>
          <p:cNvSpPr/>
          <p:nvPr/>
        </p:nvSpPr>
        <p:spPr>
          <a:xfrm>
            <a:off x="3913632" y="210312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en pesticidas equivocados sin un diagnóstico claro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5120640" cy="566928"/>
          </a:xfrm>
          <a:prstGeom prst="rect">
            <a:avLst/>
          </a:prstGeom>
          <a:solidFill>
            <a:srgbClr val="FDE8E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2743200"/>
            <a:ext cx="91440" cy="566928"/>
          </a:xfrm>
          <a:prstGeom prst="rect">
            <a:avLst/>
          </a:prstGeom>
          <a:solidFill>
            <a:srgbClr val="D95F3B"/>
          </a:solidFill>
          <a:ln/>
        </p:spPr>
      </p:sp>
      <p:sp>
        <p:nvSpPr>
          <p:cNvPr id="19" name="Text 17"/>
          <p:cNvSpPr/>
          <p:nvPr/>
        </p:nvSpPr>
        <p:spPr>
          <a:xfrm>
            <a:off x="3913632" y="276148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técnicos costosos que no siempre están disponibles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4930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con AgroScan IA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931920"/>
            <a:ext cx="5120640" cy="32918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3931920"/>
            <a:ext cx="91440" cy="32918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3950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Diagnóstico preliminar en segundos desde su PC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4315968"/>
            <a:ext cx="5120640" cy="32918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49040" y="4315968"/>
            <a:ext cx="91440" cy="32918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3913632" y="4334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Porcentaje de confianza + tratamiento específico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4700016"/>
            <a:ext cx="5120640" cy="32918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8" name="Shape 26"/>
          <p:cNvSpPr/>
          <p:nvPr/>
        </p:nvSpPr>
        <p:spPr>
          <a:xfrm>
            <a:off x="3749040" y="4700016"/>
            <a:ext cx="91440" cy="32918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3913632" y="47183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Decisiones informadas sin depender de terceros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MÉTRICAS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crece y cómo medimos el éxito?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297680" cy="3950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429768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Escalabilidad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82296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08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1527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Actual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745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de escritorio funcional (Python MVC)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cultivos: soya, maíz, caña, girasol, arroz, algodón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Gemini 2.5 Flash + sistema de fallback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Diagnóstico con % de confianza y tratamiento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822960" cy="3200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06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98448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71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Versión web/móvil (mayor alcance)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Historial de diagnósticos por productor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3375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Alertas regionales por cultivo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822960" cy="320040"/>
          </a:xfrm>
          <a:prstGeom prst="rect">
            <a:avLst/>
          </a:prstGeom>
          <a:solidFill>
            <a:srgbClr val="E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03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984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Integración con drones y cámaras IoT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2519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Expansión a Beni, Chuquisaca, Paraguay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3484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Licencias institucionales a cooperativas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987552"/>
            <a:ext cx="4023360" cy="3950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987552"/>
            <a:ext cx="4023360" cy="4114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 de Éxito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508760"/>
            <a:ext cx="3840480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15544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del Diagnóstico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180136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enfermedades correctamente identificadas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185416"/>
            <a:ext cx="3840480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22311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22219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247802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que usan la app de forma recurrente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2862072"/>
            <a:ext cx="3840480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4956048" y="29077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28986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Realizados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15468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total de análisis procesados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538728"/>
            <a:ext cx="3840480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44" name="Text 42"/>
          <p:cNvSpPr/>
          <p:nvPr/>
        </p:nvSpPr>
        <p:spPr>
          <a:xfrm>
            <a:off x="4956048" y="358444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440680" y="357530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Retención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383133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que vuelven tras el primer diagnóstico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4215384"/>
            <a:ext cx="3840480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426110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40680" y="42519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40680" y="450799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desde imagen hasta resultado completo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64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validación a la sostenibilidad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9436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109728" cy="10789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Gratuito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producto con productores reales. Generar datos, confianza y primeros usuarios recurrentes.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344168"/>
            <a:ext cx="91440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344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59436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58568"/>
            <a:ext cx="109728" cy="107899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877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29169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avanzadas: historial, alertas, reportes. Modelo freemium con conversión demostrada.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578608"/>
            <a:ext cx="914400" cy="34747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578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59436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93008"/>
            <a:ext cx="109728" cy="1078992"/>
          </a:xfrm>
          <a:prstGeom prst="rect">
            <a:avLst/>
          </a:prstGeom>
          <a:solidFill>
            <a:srgbClr val="E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Institucionales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1513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Cooperativas y asociaciones agrícolas pagan por acceso masivo y datos de tendencias regionales.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3813048"/>
            <a:ext cx="914400" cy="347472"/>
          </a:xfrm>
          <a:prstGeom prst="rect">
            <a:avLst/>
          </a:prstGeom>
          <a:solidFill>
            <a:srgbClr val="E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1024128"/>
            <a:ext cx="2423160" cy="3611880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0528" y="1115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1600200"/>
            <a:ext cx="2240280" cy="621792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56248" y="1673352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16550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13448" y="19110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pérdidas por detección temprana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37960" y="2331720"/>
            <a:ext cx="2240280" cy="621792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2404872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13448" y="238658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13448" y="264261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pesticidas innecesarios aplicados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3063240"/>
            <a:ext cx="2240280" cy="621792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3136392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13448" y="311810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13448" y="337413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accesible para el pequeño productor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37960" y="3794760"/>
            <a:ext cx="2240280" cy="621792"/>
          </a:xfrm>
          <a:prstGeom prst="rect">
            <a:avLst/>
          </a:prstGeom>
          <a:solidFill>
            <a:srgbClr val="1F4A35"/>
          </a:solidFill>
          <a:ln/>
        </p:spPr>
      </p:sp>
      <p:sp>
        <p:nvSpPr>
          <p:cNvPr id="42" name="Text 40"/>
          <p:cNvSpPr/>
          <p:nvPr/>
        </p:nvSpPr>
        <p:spPr>
          <a:xfrm>
            <a:off x="6556248" y="3867912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13448" y="384962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13448" y="41056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la IA agrícola en Bolivia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200400"/>
            <a:ext cx="4114800" cy="4114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AgroScan IA 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7955280" cy="822960"/>
          </a:xfrm>
          <a:prstGeom prst="rect">
            <a:avLst/>
          </a:prstGeom>
          <a:solidFill>
            <a:srgbClr val="1F4A3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109728" cy="8229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332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ESCALABLE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0515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→ Web → Móvil → IoT. Más cultivos, más regiones, más plataformas.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7955280" cy="822960"/>
          </a:xfrm>
          <a:prstGeom prst="rect">
            <a:avLst/>
          </a:prstGeom>
          <a:solidFill>
            <a:srgbClr val="1F4A3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20240"/>
            <a:ext cx="109728" cy="8229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9933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MEDIBLE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claros: precisión, usuarios activos, diagnósticos, retención.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7955280" cy="822960"/>
          </a:xfrm>
          <a:prstGeom prst="rect">
            <a:avLst/>
          </a:prstGeom>
          <a:solidFill>
            <a:srgbClr val="1F4A3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80360"/>
            <a:ext cx="109728" cy="8229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9535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VALIDADO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29718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real: Santa Cruz, motor agrícola de Bolivia. 0 competidores locales.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840480"/>
            <a:ext cx="7955280" cy="822960"/>
          </a:xfrm>
          <a:prstGeom prst="rect">
            <a:avLst/>
          </a:prstGeom>
          <a:solidFill>
            <a:srgbClr val="1F4A3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840480"/>
            <a:ext cx="109728" cy="8229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9136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DIFERENTE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39319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calibrada para Bolivia. Gemini 2.5 Flash + prompt de agrónomo regional.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663440"/>
            <a:ext cx="795528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6817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Piratas · UAGRM · Santa Cruz, Bolivia · agroscan.ia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871</Words>
  <Application>Microsoft Office PowerPoint</Application>
  <PresentationFormat>Presentación en pantalla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AgroScan IA – Pitch Hackathon</dc:title>
  <dc:subject>PptxGenJS Presentation</dc:subject>
  <dc:creator>PptxGenJS</dc:creator>
  <cp:lastModifiedBy>JOSE ERNESTO LAURA VILLEGAS</cp:lastModifiedBy>
  <cp:revision>2</cp:revision>
  <dcterms:created xsi:type="dcterms:W3CDTF">2026-05-31T10:53:34Z</dcterms:created>
  <dcterms:modified xsi:type="dcterms:W3CDTF">2026-05-31T11:03:30Z</dcterms:modified>
</cp:coreProperties>
</file>